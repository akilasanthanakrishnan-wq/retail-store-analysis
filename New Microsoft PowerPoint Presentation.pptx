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86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laji Gopalakrishnan" initials="BG" lastIdx="1" clrIdx="0">
    <p:extLst>
      <p:ext uri="{19B8F6BF-5375-455C-9EA6-DF929625EA0E}">
        <p15:presenceInfo xmlns:p15="http://schemas.microsoft.com/office/powerpoint/2012/main" userId="1e7649a986d7b84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8" autoAdjust="0"/>
    <p:restoredTop sz="92754" autoAdjust="0"/>
  </p:normalViewPr>
  <p:slideViewPr>
    <p:cSldViewPr snapToGrid="0">
      <p:cViewPr varScale="1">
        <p:scale>
          <a:sx n="61" d="100"/>
          <a:sy n="61" d="100"/>
        </p:scale>
        <p:origin x="6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5F4F4-D533-4107-A517-A78190B999A0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A504A-4496-488B-80CF-B3360224C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94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A504A-4496-488B-80CF-B3360224C0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64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A504A-4496-488B-80CF-B3360224C0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33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A504A-4496-488B-80CF-B3360224C0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2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A504A-4496-488B-80CF-B3360224C0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9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A504A-4496-488B-80CF-B3360224C0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79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6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9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4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4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45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2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08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5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95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0647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90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71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38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16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6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033D2FA-0794-4B4E-952F-E23DBC82ED2A}" type="datetimeFigureOut">
              <a:rPr lang="en-US" smtClean="0"/>
              <a:t>20-Jan-26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3D773AF-D5B3-4678-B1A0-F9C2A94C7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58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87" r:id="rId1"/>
    <p:sldLayoutId id="2147484388" r:id="rId2"/>
    <p:sldLayoutId id="2147484389" r:id="rId3"/>
    <p:sldLayoutId id="2147484390" r:id="rId4"/>
    <p:sldLayoutId id="2147484391" r:id="rId5"/>
    <p:sldLayoutId id="2147484392" r:id="rId6"/>
    <p:sldLayoutId id="2147484393" r:id="rId7"/>
    <p:sldLayoutId id="2147484394" r:id="rId8"/>
    <p:sldLayoutId id="2147484395" r:id="rId9"/>
    <p:sldLayoutId id="2147484396" r:id="rId10"/>
    <p:sldLayoutId id="2147484397" r:id="rId11"/>
    <p:sldLayoutId id="2147484398" r:id="rId12"/>
    <p:sldLayoutId id="2147484399" r:id="rId13"/>
    <p:sldLayoutId id="2147484400" r:id="rId14"/>
    <p:sldLayoutId id="2147484401" r:id="rId15"/>
    <p:sldLayoutId id="2147484402" r:id="rId16"/>
    <p:sldLayoutId id="214748440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9A95-9091-A870-5B0A-8BD7E4C3A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RETAIL STORE TRANSACTIONS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3BD73-D33F-BCC1-46AE-8777C7A0E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AKILA 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DATA ANALYSIS SEP 2025 BATCH</a:t>
            </a:r>
          </a:p>
        </p:txBody>
      </p:sp>
    </p:spTree>
    <p:extLst>
      <p:ext uri="{BB962C8B-B14F-4D97-AF65-F5344CB8AC3E}">
        <p14:creationId xmlns:p14="http://schemas.microsoft.com/office/powerpoint/2010/main" val="382112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3E682-E801-A5AD-04AE-24BAF1CA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95" y="84083"/>
            <a:ext cx="11147461" cy="998483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E82BB0-8EE5-CCC8-A57F-60ADF69A4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339" y="1454228"/>
            <a:ext cx="11985661" cy="52291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TRANSFORMATION (POWER QUERY)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DAX MEASURES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DASHBOARD DESIGN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KEY BUSINESS INSIGHTS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CONCLUSION &amp; FUTURE SCOPE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93403-5640-9EA6-EC58-625CED1E4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513" y="1938969"/>
            <a:ext cx="5860973" cy="47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490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3A44D-92C6-02BB-55EA-68884A3CD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209"/>
            <a:ext cx="10515600" cy="84531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74BCD-E284-2752-5C85-C5544A591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51" y="1616305"/>
            <a:ext cx="11362111" cy="50464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 VALUES (NULL)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HEADER RENAME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CATEGORIZATION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COLUMN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RECORDS (NULL)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10B30D-D311-B7B0-0D4E-9AA54DEF2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631" y="1448656"/>
            <a:ext cx="5592614" cy="51859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58B236-CF46-E003-C534-8D6DECD98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635" y="1448656"/>
            <a:ext cx="5592614" cy="518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4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5975-43D9-866E-F897-A1AC3C66E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746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DAX MEASURES</a:t>
            </a:r>
          </a:p>
        </p:txBody>
      </p: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FF0421BA-5606-8E2F-F751-0EA9174AA30C}"/>
              </a:ext>
            </a:extLst>
          </p:cNvPr>
          <p:cNvSpPr/>
          <p:nvPr/>
        </p:nvSpPr>
        <p:spPr>
          <a:xfrm>
            <a:off x="838200" y="1182412"/>
            <a:ext cx="2998076" cy="2480441"/>
          </a:xfrm>
          <a:prstGeom prst="verticalScroll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Total Sales =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SUM ( Sheet1[Sales_Amou </a:t>
            </a:r>
            <a:r>
              <a:rPr lang="en-US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nt</a:t>
            </a: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] )</a:t>
            </a:r>
          </a:p>
          <a:p>
            <a:pPr algn="ctr"/>
            <a:endParaRPr lang="en-US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418EAE81-D04C-E22A-E5C6-1E287AA51C4F}"/>
              </a:ext>
            </a:extLst>
          </p:cNvPr>
          <p:cNvSpPr/>
          <p:nvPr/>
        </p:nvSpPr>
        <p:spPr>
          <a:xfrm>
            <a:off x="4596962" y="1182414"/>
            <a:ext cx="2998076" cy="2480441"/>
          </a:xfrm>
          <a:prstGeom prst="verticalScroll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Avg Purchase Frequency =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DIVIDE (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[Total Transactions],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[Total Customers]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)</a:t>
            </a:r>
          </a:p>
          <a:p>
            <a:pPr algn="ctr"/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5" name="Scroll: Vertical 4">
            <a:extLst>
              <a:ext uri="{FF2B5EF4-FFF2-40B4-BE49-F238E27FC236}">
                <a16:creationId xmlns:a16="http://schemas.microsoft.com/office/drawing/2014/main" id="{2C04F9B2-9D0E-489F-F791-6FB4A47EABA7}"/>
              </a:ext>
            </a:extLst>
          </p:cNvPr>
          <p:cNvSpPr/>
          <p:nvPr/>
        </p:nvSpPr>
        <p:spPr>
          <a:xfrm>
            <a:off x="8820807" y="1182413"/>
            <a:ext cx="2998076" cy="2480441"/>
          </a:xfrm>
          <a:prstGeom prst="verticalScroll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Total Customers =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DISTINCTCOUNT ( Sheet1[</a:t>
            </a:r>
            <a:r>
              <a:rPr lang="en-US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Customer_ID</a:t>
            </a: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] )</a:t>
            </a:r>
          </a:p>
        </p:txBody>
      </p:sp>
      <p:sp>
        <p:nvSpPr>
          <p:cNvPr id="6" name="Scroll: Vertical 5">
            <a:extLst>
              <a:ext uri="{FF2B5EF4-FFF2-40B4-BE49-F238E27FC236}">
                <a16:creationId xmlns:a16="http://schemas.microsoft.com/office/drawing/2014/main" id="{D2AD2D6C-66D5-AC81-FFEB-BFE8F9A1C558}"/>
              </a:ext>
            </a:extLst>
          </p:cNvPr>
          <p:cNvSpPr/>
          <p:nvPr/>
        </p:nvSpPr>
        <p:spPr>
          <a:xfrm>
            <a:off x="838200" y="4141074"/>
            <a:ext cx="2998076" cy="2480441"/>
          </a:xfrm>
          <a:prstGeom prst="verticalScroll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Average Order Value =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DIVIDE ( [Total Sales], [Total Transactions] )</a:t>
            </a:r>
          </a:p>
        </p:txBody>
      </p:sp>
      <p:sp>
        <p:nvSpPr>
          <p:cNvPr id="7" name="Scroll: Vertical 6">
            <a:extLst>
              <a:ext uri="{FF2B5EF4-FFF2-40B4-BE49-F238E27FC236}">
                <a16:creationId xmlns:a16="http://schemas.microsoft.com/office/drawing/2014/main" id="{46F8C55A-308A-E6A9-F0B8-42FB5F3FA94F}"/>
              </a:ext>
            </a:extLst>
          </p:cNvPr>
          <p:cNvSpPr/>
          <p:nvPr/>
        </p:nvSpPr>
        <p:spPr>
          <a:xfrm>
            <a:off x="4522076" y="4141073"/>
            <a:ext cx="2998076" cy="2480441"/>
          </a:xfrm>
          <a:prstGeom prst="verticalScroll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Total Transactions =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DISTINCTCOUNT ( Sheet1[Transaction ID] )</a:t>
            </a:r>
          </a:p>
        </p:txBody>
      </p:sp>
      <p:sp>
        <p:nvSpPr>
          <p:cNvPr id="8" name="Scroll: Vertical 7">
            <a:extLst>
              <a:ext uri="{FF2B5EF4-FFF2-40B4-BE49-F238E27FC236}">
                <a16:creationId xmlns:a16="http://schemas.microsoft.com/office/drawing/2014/main" id="{C0B10CB5-6224-4902-829C-009AA8AEB232}"/>
              </a:ext>
            </a:extLst>
          </p:cNvPr>
          <p:cNvSpPr/>
          <p:nvPr/>
        </p:nvSpPr>
        <p:spPr>
          <a:xfrm>
            <a:off x="8747234" y="4141073"/>
            <a:ext cx="2998076" cy="2480441"/>
          </a:xfrm>
          <a:prstGeom prst="verticalScroll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Sales per Customer =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DIVIDE ( [Total Sales], [Total Customers] )</a:t>
            </a:r>
          </a:p>
        </p:txBody>
      </p:sp>
    </p:spTree>
    <p:extLst>
      <p:ext uri="{BB962C8B-B14F-4D97-AF65-F5344CB8AC3E}">
        <p14:creationId xmlns:p14="http://schemas.microsoft.com/office/powerpoint/2010/main" val="396667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CB2891-58B8-A8A6-E88B-D6309F6D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7" y="1"/>
            <a:ext cx="11981792" cy="882868"/>
          </a:xfrm>
        </p:spPr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DAX FUNCTION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65A35-D4AE-20A8-D631-DED6ED10C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731" y="1205857"/>
            <a:ext cx="9648497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5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E11A-CF71-649C-8019-B88C4B090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797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EFDE3-BE7C-CD30-19BD-A61C0DC59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11" y="1261241"/>
            <a:ext cx="11477296" cy="510803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TREND BY MONTH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CONTRIBUTION BY CATEGORY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QUANTITY VS TRANSACTION ID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BY PRODUCT CATEGORY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SALES VS AVERAGE ORDER VALUE BY MONTH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KPI VALUES</a:t>
            </a:r>
          </a:p>
        </p:txBody>
      </p:sp>
    </p:spTree>
    <p:extLst>
      <p:ext uri="{BB962C8B-B14F-4D97-AF65-F5344CB8AC3E}">
        <p14:creationId xmlns:p14="http://schemas.microsoft.com/office/powerpoint/2010/main" val="3577285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C93F6-78BC-23D8-24EC-042681875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3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A2AB1D-4055-B1BB-2248-B75B0222F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35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AA56A-8469-5AA4-8D89-1042DAC4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103"/>
            <a:ext cx="10515600" cy="81980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KEY BUSINESS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A7B05-A6FB-99F3-AB5D-84DEF2A77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13793"/>
            <a:ext cx="10649606" cy="55442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SEASONAL SALES PEAK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SKU CATEGORIES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SPEND PATTERNS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CONTRIBUTION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TRENDS OVER TIME</a:t>
            </a:r>
          </a:p>
        </p:txBody>
      </p:sp>
    </p:spTree>
    <p:extLst>
      <p:ext uri="{BB962C8B-B14F-4D97-AF65-F5344CB8AC3E}">
        <p14:creationId xmlns:p14="http://schemas.microsoft.com/office/powerpoint/2010/main" val="3685146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B96206-C05D-49D1-0BC1-EF90CA95F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656"/>
            <a:ext cx="10515600" cy="110358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ACTIONABLE RECOMENDATIONS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D4740E-0EF3-AE34-2772-00B3DAE59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52" y="1629104"/>
            <a:ext cx="11834648" cy="522889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OPTIMIZATION FOR PEAK SEASONS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LOYALTY FOCUS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HIGH-CONTRIBUTION CATEGORIES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&amp; PLAN FOR SEASONAL TRENDS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UNDERPERFORMING SKUS</a:t>
            </a:r>
          </a:p>
          <a:p>
            <a:pPr marL="0" indent="0">
              <a:buNone/>
            </a:pPr>
            <a:br>
              <a:rPr lang="en-US" sz="2600" dirty="0"/>
            </a:br>
            <a:br>
              <a:rPr lang="en-US" sz="2600" dirty="0"/>
            </a:br>
            <a:br>
              <a:rPr lang="en-US" sz="2600" dirty="0"/>
            </a:br>
            <a:endParaRPr lang="en-US" sz="2600" dirty="0"/>
          </a:p>
          <a:p>
            <a:pPr marL="0" indent="0">
              <a:buNone/>
            </a:pPr>
            <a:br>
              <a:rPr lang="en-US" sz="2600" dirty="0"/>
            </a:b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7552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E5C83E-7227-875B-132A-D5478B51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87668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9A896-50B6-415C-EA0D-7DD101193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66" y="1187669"/>
            <a:ext cx="12023834" cy="593834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ANALYZING THIS INFORMATION, BUSINESSES CAN IDENTIFY THEIR MOST POPULAR ITEMS, UNDERSTAND CUSTOMER PURCHASING BEHAVIORS, AND DETECT SALES TRENDS OVER TIME.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SERVES AS A VALUABLE RESOURCE FOR MAKING INFORMED DECISIONS ABOUT INVENTORY MANAGEMENT, MARKETING STRATEGIES, AND SALES OPTIMIZATION.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REFLECTS AN ACTIVE RETAIL ENVIRONMENT WITH SIGNIFICANT OPPORTUNITIES FOR DATA-DRIVEN INSIGHTS TO ENHANCE OPERATIONAL EFFICIENCY AND PROFITABILITY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355494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15942</TotalTime>
  <Words>309</Words>
  <Application>Microsoft Office PowerPoint</Application>
  <PresentationFormat>Widescreen</PresentationFormat>
  <Paragraphs>90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Corbel</vt:lpstr>
      <vt:lpstr>Times New Roman</vt:lpstr>
      <vt:lpstr>Wingdings</vt:lpstr>
      <vt:lpstr>Depth</vt:lpstr>
      <vt:lpstr>     RETAIL STORE TRANSACTIONS</vt:lpstr>
      <vt:lpstr>                         KEY TOPICS</vt:lpstr>
      <vt:lpstr>           DATA TRANSFORMATION</vt:lpstr>
      <vt:lpstr>             DAX MEASURES</vt:lpstr>
      <vt:lpstr>                 DAX FUNCTION VALUES</vt:lpstr>
      <vt:lpstr>                  DASHBOARD</vt:lpstr>
      <vt:lpstr>PowerPoint Presentation</vt:lpstr>
      <vt:lpstr>PowerPoint Presentation</vt:lpstr>
      <vt:lpstr>              KEY BUSINESS INSIGHT</vt:lpstr>
      <vt:lpstr>       ACTIONABLE RECOMENDATIONS</vt:lpstr>
      <vt:lpstr>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Gopalakrishnan</dc:creator>
  <cp:lastModifiedBy>Balaji Gopalakrishnan</cp:lastModifiedBy>
  <cp:revision>6</cp:revision>
  <dcterms:created xsi:type="dcterms:W3CDTF">2026-01-06T14:30:02Z</dcterms:created>
  <dcterms:modified xsi:type="dcterms:W3CDTF">2026-01-20T14:51:53Z</dcterms:modified>
</cp:coreProperties>
</file>